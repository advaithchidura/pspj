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914400"/>
            <a:ext cx="2926080" cy="2926080"/>
          </a:xfrm>
          <a:prstGeom prst="ellipse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32520" y="1600200"/>
            <a:ext cx="1554480" cy="1554480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72600" y="2240280"/>
            <a:ext cx="1097280" cy="1097280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0" y="3886200"/>
            <a:ext cx="1920240" cy="164592"/>
          </a:xfrm>
          <a:prstGeom prst="round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5440" y="4251960"/>
            <a:ext cx="1463040" cy="164592"/>
          </a:xfrm>
          <a:prstGeom prst="roundRect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0DBDA"/>
                </a:solidFill>
                <a:latin typeface="Aptos"/>
              </a:defRPr>
            </a:pPr>
            <a:r>
              <a:t>JAVA APPLICATION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9494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2F6FF"/>
                </a:solidFill>
                <a:latin typeface="Aptos"/>
              </a:defRPr>
            </a:pPr>
            <a:r>
              <a:t>BLOOD BANK</a:t>
            </a:r>
          </a:p>
          <a:p>
            <a:pPr algn="l">
              <a:spcAft>
                <a:spcPts val="600"/>
              </a:spcAft>
              <a:defRPr sz="3400" b="1">
                <a:solidFill>
                  <a:srgbClr val="F2F6FF"/>
                </a:solidFill>
                <a:latin typeface="Aptos"/>
              </a:defRPr>
            </a:pPr>
            <a:r>
              <a:t>INVENTORY &amp;</a:t>
            </a:r>
          </a:p>
          <a:p>
            <a:pPr algn="l">
              <a:spcAft>
                <a:spcPts val="600"/>
              </a:spcAft>
              <a:defRPr sz="3400" b="1">
                <a:solidFill>
                  <a:srgbClr val="F2F6FF"/>
                </a:solidFill>
                <a:latin typeface="Aptos"/>
              </a:defRPr>
            </a:pPr>
            <a:r>
              <a:t>DONOR MATCHER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6217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AEBED6"/>
                </a:solidFill>
                <a:latin typeface="Aptos"/>
              </a:defRPr>
            </a:pPr>
            <a:r>
              <a:t>A smart Java-based system for blood stock tracking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AEBED6"/>
                </a:solidFill>
                <a:latin typeface="Aptos"/>
              </a:defRPr>
            </a:pPr>
            <a:r>
              <a:t>and compatible donor identification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57800"/>
            <a:ext cx="4297680" cy="68580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458968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2F6FF"/>
                </a:solidFill>
                <a:latin typeface="Aptos"/>
              </a:defRPr>
            </a:pPr>
            <a:r>
              <a:t>ADVAITH  •  2620030295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6364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0DBDA"/>
                </a:solidFill>
                <a:latin typeface="Aptos"/>
              </a:defRPr>
            </a:pPr>
            <a:r>
              <a:t>COMPUTATIONAL THINKING • JAVA • MODULES 1–6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91440"/>
            <a:ext cx="164592" cy="164592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56848" y="91440"/>
            <a:ext cx="164592" cy="164592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0DBD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51560" cy="50292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AEBE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BED6"/>
                </a:solidFill>
                <a:latin typeface="Aptos"/>
              </a:defRPr>
            </a:pPr>
            <a:r>
              <a:t>BLOOD BANK INVENTORY &amp; DONOR MATCHER  •  JAVA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6400800" cy="434340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64008" cy="4343400"/>
          </a:xfrm>
          <a:prstGeom prst="rect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5989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0DBDA"/>
                </a:solidFill>
                <a:latin typeface="Aptos"/>
              </a:defRPr>
            </a:pPr>
            <a:r>
              <a:t>PROJECT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5989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F2F6FF"/>
                </a:solidFill>
                <a:latin typeface="Aptos"/>
              </a:defRPr>
            </a:pPr>
            <a:r>
              <a:t>•  Maintains blood-group-wise stock and donor records.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2F6FF"/>
                </a:solidFill>
                <a:latin typeface="Aptos"/>
              </a:defRPr>
            </a:pPr>
            <a:r>
              <a:t>•  Checks available units before recording a request.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2F6FF"/>
                </a:solidFill>
                <a:latin typeface="Aptos"/>
              </a:defRPr>
            </a:pPr>
            <a:r>
              <a:t>•  Finds potential donors using blood group, location and availability.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2F6FF"/>
                </a:solidFill>
                <a:latin typeface="Aptos"/>
              </a:defRPr>
            </a:pPr>
            <a:r>
              <a:t>•  Uses Java fundamentals, OOP, arrays, collections and file handling.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2F6FF"/>
                </a:solidFill>
                <a:latin typeface="Aptos"/>
              </a:defRPr>
            </a:pPr>
            <a:r>
              <a:t>•  Generates simple inventory and donor-match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645920"/>
            <a:ext cx="4160520" cy="434340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0116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4D63"/>
                </a:solidFill>
                <a:latin typeface="Aptos"/>
              </a:defRPr>
            </a:pPr>
            <a:r>
              <a:t>CORE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06040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F2F6FF"/>
                </a:solidFill>
                <a:latin typeface="Aptos"/>
              </a:defRPr>
            </a:pPr>
            <a:r>
              <a:t>Make blood information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F2F6FF"/>
                </a:solidFill>
                <a:latin typeface="Aptos"/>
              </a:defRPr>
            </a:pPr>
            <a:r>
              <a:t>clear, searchable and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F2F6FF"/>
                </a:solidFill>
                <a:latin typeface="Aptos"/>
              </a:defRPr>
            </a:pPr>
            <a:r>
              <a:t>quick to update.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09160"/>
            <a:ext cx="3291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BED6"/>
                </a:solidFill>
                <a:latin typeface="Aptos"/>
              </a:defRPr>
            </a:pPr>
            <a:r>
              <a:t>Prototype for academic demonstration. Real clinical use requires verified records, privacy controls and blood-bank procedures.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91440"/>
            <a:ext cx="164592" cy="164592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56848" y="91440"/>
            <a:ext cx="164592" cy="164592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0DBDA"/>
                </a:solidFill>
                <a:latin typeface="Aptos"/>
              </a:defRPr>
            </a:pPr>
            <a:r>
              <a:t>NEED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51560" cy="50292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AEBED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BED6"/>
                </a:solidFill>
                <a:latin typeface="Aptos"/>
              </a:defRPr>
            </a:pPr>
            <a:r>
              <a:t>BLOOD BANK INVENTORY &amp; DONOR MATCHER  •  JAVA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349240" cy="429768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64008" cy="4297680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74520"/>
            <a:ext cx="4937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4D63"/>
                </a:solidFill>
                <a:latin typeface="Aptos"/>
              </a:defRPr>
            </a:pPr>
            <a:r>
              <a:t>CURRENT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50008"/>
            <a:ext cx="4937759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F2F6FF"/>
                </a:solidFill>
                <a:latin typeface="Aptos"/>
              </a:defRPr>
            </a:pPr>
            <a:r>
              <a:t>•  Stock details may be scattered across registers or files.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2F6FF"/>
                </a:solidFill>
                <a:latin typeface="Aptos"/>
              </a:defRPr>
            </a:pPr>
            <a:r>
              <a:t>•  Finding a suitable donor can take time during urgent requests.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2F6FF"/>
                </a:solidFill>
                <a:latin typeface="Aptos"/>
              </a:defRPr>
            </a:pPr>
            <a:r>
              <a:t>•  Incorrect updates can cause stock counts to become unreliable.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2F6FF"/>
                </a:solidFill>
                <a:latin typeface="Aptos"/>
              </a:defRPr>
            </a:pPr>
            <a:r>
              <a:t>•  Manual searching makes reporting and follow-up difficult.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349240" cy="429768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64008" cy="4297680"/>
          </a:xfrm>
          <a:prstGeom prst="rect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74520"/>
            <a:ext cx="4937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0DBDA"/>
                </a:solidFill>
                <a:latin typeface="Aptos"/>
              </a:defRPr>
            </a:pPr>
            <a:r>
              <a:t>WHY A JAVA SYSTEM?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50008"/>
            <a:ext cx="4937759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F2F6FF"/>
                </a:solidFill>
                <a:latin typeface="Aptos"/>
              </a:defRPr>
            </a:pPr>
            <a:r>
              <a:t>•  One structured place for inventory and donor data.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2F6FF"/>
                </a:solidFill>
                <a:latin typeface="Aptos"/>
              </a:defRPr>
            </a:pPr>
            <a:r>
              <a:t>•  Rules can validate inputs and guide matching.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2F6FF"/>
                </a:solidFill>
                <a:latin typeface="Aptos"/>
              </a:defRPr>
            </a:pPr>
            <a:r>
              <a:t>•  Search, sorting and summaries reduce repetitive work.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2F6FF"/>
                </a:solidFill>
                <a:latin typeface="Aptos"/>
              </a:defRPr>
            </a:pPr>
            <a:r>
              <a:t>•  Modular code is easier to test, update and maintain.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91440"/>
            <a:ext cx="164592" cy="164592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56848" y="91440"/>
            <a:ext cx="164592" cy="164592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0DBDA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Proposed Solution &amp;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51560" cy="50292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AEBED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BED6"/>
                </a:solidFill>
                <a:latin typeface="Aptos"/>
              </a:defRPr>
            </a:pPr>
            <a:r>
              <a:t>BLOOD BANK INVENTORY &amp; DONOR MATCHER  •  JAVA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48840"/>
            <a:ext cx="2011680" cy="242316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395728"/>
            <a:ext cx="502920" cy="502920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5328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0A122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1089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4D63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61188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t>Add donor and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t>blood-unit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2926080"/>
            <a:ext cx="320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AEBED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79" y="2148840"/>
            <a:ext cx="2011680" cy="242316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27248" y="2395728"/>
            <a:ext cx="502920" cy="502920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7248" y="25328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0A122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31089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0DBD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361188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t>Check fields,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t>blood group &amp;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2926080"/>
            <a:ext cx="320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AEBED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2148840"/>
            <a:ext cx="2011680" cy="242316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58968" y="2395728"/>
            <a:ext cx="502920" cy="502920"/>
          </a:xfrm>
          <a:prstGeom prst="ellipse">
            <a:avLst/>
          </a:prstGeom>
          <a:solidFill>
            <a:srgbClr val="FFC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58968" y="25328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0A122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31089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C159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8968" y="361188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t>Find matching stock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t>and eligible donors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768" y="2926080"/>
            <a:ext cx="320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AEBED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19" y="2148840"/>
            <a:ext cx="2011680" cy="242316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90688" y="2395728"/>
            <a:ext cx="502920" cy="502920"/>
          </a:xfrm>
          <a:prstGeom prst="ellipse">
            <a:avLst/>
          </a:prstGeom>
          <a:solidFill>
            <a:srgbClr val="5FE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0688" y="25328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0A122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31089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5FE1A0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0688" y="361188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t>Record issue or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t>availability 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9488" y="2926080"/>
            <a:ext cx="320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AEBED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21240" y="2148840"/>
            <a:ext cx="2011680" cy="242316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22408" y="2395728"/>
            <a:ext cx="502920" cy="502920"/>
          </a:xfrm>
          <a:prstGeom prst="ellipse">
            <a:avLst/>
          </a:prstGeom>
          <a:solidFill>
            <a:srgbClr val="A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22408" y="25328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0A122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22408" y="31089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A67EFF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22408" y="361188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t>Show stock levels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t>and match results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1663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AEBED6"/>
                </a:solidFill>
                <a:latin typeface="Aptos"/>
              </a:defRPr>
            </a:pPr>
            <a:r>
              <a:t>Important: donor matching suggests candidates only; eligibility and transfusion decisions must be confirmed by qualified blood-bank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91440"/>
            <a:ext cx="164592" cy="164592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56848" y="91440"/>
            <a:ext cx="164592" cy="164592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0DBDA"/>
                </a:solidFill>
                <a:latin typeface="Aptos"/>
              </a:defRPr>
            </a:pPr>
            <a:r>
              <a:t>JAVA CONCEPTS APPLIED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Module 1 — From Problem to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51560" cy="50292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AEBED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BED6"/>
                </a:solidFill>
                <a:latin typeface="Aptos"/>
              </a:defRPr>
            </a:pPr>
            <a:r>
              <a:t>BLOOD BANK INVENTORY &amp; DONOR MATCHER  •  JAVA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64008" cy="4389120"/>
          </a:xfrm>
          <a:prstGeom prst="rect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0DBDA"/>
                </a:solidFill>
                <a:latin typeface="Aptos"/>
              </a:defRPr>
            </a:pPr>
            <a:r>
              <a:t>COMPUTATIONAL THINKING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4892040" cy="3611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Define inputs: blood group, component, units and donor details.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Define outputs: stock status, compatible candidates and reports.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Algorithm: read request → validate → search → display result.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Flowchart helps represent decisions before coding.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303520" cy="43891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45920"/>
            <a:ext cx="64008" cy="4389120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4D63"/>
                </a:solidFill>
                <a:latin typeface="Aptos"/>
              </a:defRPr>
            </a:pPr>
            <a:r>
              <a:t>JAVA FOUNDATIONS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04288"/>
            <a:ext cx="4892040" cy="3611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Variables: donorName, bloodGroup, unitsAvailable.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Data types: String, int, double, boolean.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Operators: arithmetic for counts; relational/logical for rules.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Scanner reads input; printf formats stock summaries.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Type casting and precedence support safe calculations.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91440"/>
            <a:ext cx="164592" cy="164592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56848" y="91440"/>
            <a:ext cx="164592" cy="164592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0DBDA"/>
                </a:solidFill>
                <a:latin typeface="Aptos"/>
              </a:defRPr>
            </a:pPr>
            <a:r>
              <a:t>JAVA CONCEPTS APPLIED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Module 2 — Control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51560" cy="50292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AEBED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BED6"/>
                </a:solidFill>
                <a:latin typeface="Aptos"/>
              </a:defRPr>
            </a:pPr>
            <a:r>
              <a:t>BLOOD BANK INVENTORY &amp; DONOR MATCHER  •  JAVA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64008" cy="4389120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4D63"/>
                </a:solidFill>
                <a:latin typeface="Aptos"/>
              </a:defRPr>
            </a:pPr>
            <a:r>
              <a:t>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4892040" cy="3611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if / if-else: verify that requested units are available.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else-if ladder: classify blood groups and request types.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switch: menu choices such as Add, Search, Issue, Report.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break prevents accidental fall-through in menu options.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303520" cy="43891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45920"/>
            <a:ext cx="64008" cy="4389120"/>
          </a:xfrm>
          <a:prstGeom prst="rect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0DBDA"/>
                </a:solidFill>
                <a:latin typeface="Aptos"/>
              </a:defRPr>
            </a:pPr>
            <a:r>
              <a:t>ITERATION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04288"/>
            <a:ext cx="4892040" cy="3611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for loop: traverse inventory records.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while loop: repeat the main menu until Exit.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Nested loops: compare a request against multiple donors.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continue can skip inactive records; avoid infinite loops.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91440"/>
            <a:ext cx="164592" cy="164592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56848" y="91440"/>
            <a:ext cx="164592" cy="164592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0DBDA"/>
                </a:solidFill>
                <a:latin typeface="Aptos"/>
              </a:defRPr>
            </a:pPr>
            <a:r>
              <a:t>JAVA CONCEPTS APPLIED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Module 3 — Methods, Recursion &amp;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51560" cy="50292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AEBED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BED6"/>
                </a:solidFill>
                <a:latin typeface="Aptos"/>
              </a:defRPr>
            </a:pPr>
            <a:r>
              <a:t>BLOOD BANK INVENTORY &amp; DONOR MATCHER  •  JAVA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64008" cy="4389120"/>
          </a:xfrm>
          <a:prstGeom prst="rect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0DBDA"/>
                </a:solidFill>
                <a:latin typeface="Aptos"/>
              </a:defRPr>
            </a:pPr>
            <a:r>
              <a:t>MODULAR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4892040" cy="3611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addDonor(), addStock(), searchDonor() and issueUnits().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Parameters pass search criteria; return values report results.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Overloading can support different search input formats.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Small methods make testing and debugging easier.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303520" cy="43891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45920"/>
            <a:ext cx="64008" cy="4389120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4D63"/>
                </a:solidFill>
                <a:latin typeface="Aptos"/>
              </a:defRPr>
            </a:pPr>
            <a:r>
              <a:t>ARRAYS &amp; SEARCHING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04288"/>
            <a:ext cx="4892040" cy="3611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Arrays store a fixed-size prototype inventory.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Traversal counts available units by blood group.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Linear search checks each donor against request criteria.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2D arrays can model blood-group stock by component type.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Recursion is optional; iteration is simpler for this workflow.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91440"/>
            <a:ext cx="164592" cy="164592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56848" y="91440"/>
            <a:ext cx="164592" cy="164592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0DBDA"/>
                </a:solidFill>
                <a:latin typeface="Aptos"/>
              </a:defRPr>
            </a:pPr>
            <a:r>
              <a:t>JAVA CONCEPTS APPLIED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Module 4 — OOP &amp; Exception Handling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51560" cy="50292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AEBED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BED6"/>
                </a:solidFill>
                <a:latin typeface="Aptos"/>
              </a:defRPr>
            </a:pPr>
            <a:r>
              <a:t>BLOOD BANK INVENTORY &amp; DONOR MATCHER  •  JAVA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64008" cy="4389120"/>
          </a:xfrm>
          <a:prstGeom prst="rect">
            <a:avLst/>
          </a:prstGeom>
          <a:solidFill>
            <a:srgbClr val="A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A67EFF"/>
                </a:solidFill>
                <a:latin typeface="Aptos"/>
              </a:defRPr>
            </a:pPr>
            <a:r>
              <a:t>OBJECT-ORIENTED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4892040" cy="3611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Donor class: donorId, name, bloodGroup, contact, availability.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BloodUnit class: component, group, quantity and expiry date.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Private fields with getters/setters protect data consistency.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Constructors initialise objects; toString() supports display.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Inheritance/interfaces can represent different record types.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303520" cy="43891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45920"/>
            <a:ext cx="64008" cy="4389120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4D63"/>
                </a:solidFill>
                <a:latin typeface="Aptos"/>
              </a:defRPr>
            </a:pPr>
            <a:r>
              <a:t>EXCEPTION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04288"/>
            <a:ext cx="4892040" cy="3611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try-catch handles invalid numeric input and file errors.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finally can close resources when not using try-with-resources.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throw rejects invalid values, such as negative unit counts.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Checked and unchecked exceptions need appropriate handling.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91440"/>
            <a:ext cx="164592" cy="164592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56848" y="91440"/>
            <a:ext cx="164592" cy="164592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0DBDA"/>
                </a:solidFill>
                <a:latin typeface="Aptos"/>
              </a:defRPr>
            </a:pPr>
            <a:r>
              <a:t>JAVA CONCEPTS APPLIED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Module 5 — Strings, Algorithms &amp; File I/O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51560" cy="50292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AEBED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BED6"/>
                </a:solidFill>
                <a:latin typeface="Aptos"/>
              </a:defRPr>
            </a:pPr>
            <a:r>
              <a:t>BLOOD BANK INVENTORY &amp; DONOR MATCHER  •  JAVA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64008" cy="4389120"/>
          </a:xfrm>
          <a:prstGeom prst="rect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0DBDA"/>
                </a:solidFill>
                <a:latin typeface="Aptos"/>
              </a:defRPr>
            </a:pPr>
            <a:r>
              <a:t>TEXT &amp;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4892040" cy="3611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String stores names, IDs, groups and request details.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equals() compares text values; == compares references.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trim(), split() and case conversion normalise input.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Arrays.sort() / Collections.sort() organise reports.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Comparator can order donors by distance or availability.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303520" cy="43891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45920"/>
            <a:ext cx="64008" cy="4389120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4D63"/>
                </a:solidFill>
                <a:latin typeface="Aptos"/>
              </a:defRPr>
            </a:pPr>
            <a:r>
              <a:t>PERSISTENCE WITH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04288"/>
            <a:ext cx="4892040" cy="3611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Path and Files read or write donor and stock records.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Process data line-by-line with buffered readers.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Append audit entries when stock changes.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try-with-resources closes files automatically.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Handle missing files and malformed records safely.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91440"/>
            <a:ext cx="164592" cy="164592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56848" y="91440"/>
            <a:ext cx="164592" cy="164592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0DBDA"/>
                </a:solidFill>
                <a:latin typeface="Aptos"/>
              </a:defRPr>
            </a:pPr>
            <a:r>
              <a:t>JAVA CONCEPTS APPLIED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Module 6 — Collections &amp; Streams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51560" cy="50292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AEBED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BED6"/>
                </a:solidFill>
                <a:latin typeface="Aptos"/>
              </a:defRPr>
            </a:pPr>
            <a:r>
              <a:t>BLOOD BANK INVENTORY &amp; DONOR MATCHER  •  JAVA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64008" cy="4389120"/>
          </a:xfrm>
          <a:prstGeom prst="rect">
            <a:avLst/>
          </a:prstGeom>
          <a:solidFill>
            <a:srgbClr val="A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A67EFF"/>
                </a:solidFill>
                <a:latin typeface="Aptos"/>
              </a:defRPr>
            </a:pPr>
            <a:r>
              <a:t>COLLECTIONS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4892040" cy="3611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ArrayList&lt;Donor&gt; stores donor records dynamically.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HashMap&lt;String, Integer&gt; tracks stock by blood group.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HashSet avoids duplicate donor IDs.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Generics provide type safety; for-each simplifies traversal.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Comparator sorts candidate donors using chosen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303520" cy="43891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45920"/>
            <a:ext cx="64008" cy="4389120"/>
          </a:xfrm>
          <a:prstGeom prst="rect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0DBDA"/>
                </a:solidFill>
                <a:latin typeface="Aptos"/>
              </a:defRPr>
            </a:pPr>
            <a:r>
              <a:t>LAMBDA &amp; STREAM PIPELINES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04288"/>
            <a:ext cx="4892040" cy="3611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filter() selects donors with matching criteria.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sorted() orders potential matches.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map() extracts names or IDs for display.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count() counts available units or matching candidates.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2F6FF"/>
                </a:solidFill>
                <a:latin typeface="Aptos"/>
              </a:defRPr>
            </a:pPr>
            <a:r>
              <a:t>•  Collectors.groupingBy() and counting() create summaries.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91440"/>
            <a:ext cx="164592" cy="164592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56848" y="91440"/>
            <a:ext cx="164592" cy="164592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0DBDA"/>
                </a:solidFill>
                <a:latin typeface="Aptos"/>
              </a:defRPr>
            </a:pPr>
            <a:r>
              <a:t>ILLUSTRATIVE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Sample Output 1 — Inventory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51560" cy="50292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AEBED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BED6"/>
                </a:solidFill>
                <a:latin typeface="Aptos"/>
              </a:defRPr>
            </a:pPr>
            <a:r>
              <a:t>BLOOD BANK INVENTORY &amp; DONOR MATCHER  •  JAVA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10927080" cy="452628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874519"/>
            <a:ext cx="10469880" cy="502920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30DBDA"/>
                </a:solidFill>
                <a:latin typeface="Aptos"/>
              </a:defRPr>
            </a:pPr>
            <a:r>
              <a:t>BLOOD BANK 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EBED6"/>
                </a:solidFill>
                <a:latin typeface="Aptos"/>
              </a:defRPr>
            </a:pPr>
            <a:r>
              <a:t>INVENTORY STATUS  •  DEMO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AEBED6"/>
                </a:solidFill>
                <a:latin typeface="Aptos"/>
              </a:defRPr>
            </a:pPr>
            <a:r>
              <a:t>BLOOD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6974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AEBED6"/>
                </a:solidFill>
                <a:latin typeface="Aptos"/>
              </a:defRPr>
            </a:pPr>
            <a:r>
              <a:t>COMPONENT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69748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AEBED6"/>
                </a:solidFill>
                <a:latin typeface="Aptos"/>
              </a:defRPr>
            </a:pPr>
            <a:r>
              <a:t>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974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AEBED6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6974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AEBED6"/>
                </a:solidFill>
                <a:latin typeface="Aptos"/>
              </a:defRPr>
            </a:pPr>
            <a:r>
              <a:t>UPDATED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063240"/>
            <a:ext cx="10241280" cy="438912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17296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A+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17296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Whole Blood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172968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17296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5FE1A0"/>
                </a:solidFill>
                <a:latin typeface="Aptos"/>
              </a:defRPr>
            </a:pPr>
            <a:r>
              <a:t>IN 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172968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630168"/>
            <a:ext cx="10241280" cy="438912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739896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B+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739896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Platelets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739896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739896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F4D63"/>
                </a:solidFill>
                <a:latin typeface="Aptos"/>
              </a:defRPr>
            </a:pPr>
            <a:r>
              <a:t>LOW STOCK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7398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197096"/>
            <a:ext cx="10241280" cy="438912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306824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O−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4306824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Whole Blood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30682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30682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F4D63"/>
                </a:solidFill>
                <a:latin typeface="Aptos"/>
              </a:defRPr>
            </a:pPr>
            <a:r>
              <a:t>URGENT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306824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764024"/>
            <a:ext cx="10241280" cy="438912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487375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AB+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487375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Plasma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487375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87375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5FE1A0"/>
                </a:solidFill>
                <a:latin typeface="Aptos"/>
              </a:defRPr>
            </a:pPr>
            <a:r>
              <a:t>IN STOCK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87375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t>Yesterday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669280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EBED6"/>
                </a:solidFill>
                <a:latin typeface="Aptos"/>
              </a:defRPr>
            </a:pPr>
            <a:r>
              <a:t>Illustrative screen only — sample values are fictional and not live blood-bank inventory.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91440"/>
            <a:ext cx="164592" cy="164592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56848" y="91440"/>
            <a:ext cx="164592" cy="164592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0DBDA"/>
                </a:solidFill>
                <a:latin typeface="Aptos"/>
              </a:defRPr>
            </a:pPr>
            <a:r>
              <a:t>ILLUSTRATIVE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Sample Output 2 — Donor Matcher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51560" cy="50292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AEBED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BED6"/>
                </a:solidFill>
                <a:latin typeface="Aptos"/>
              </a:defRPr>
            </a:pPr>
            <a:r>
              <a:t>BLOOD BANK INVENTORY &amp; DONOR MATCHER  •  JAVA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10927080" cy="452628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30DBDA"/>
                </a:solidFill>
                <a:latin typeface="Aptos"/>
              </a:defRPr>
            </a:pPr>
            <a:r>
              <a:t>REQUEST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31720"/>
            <a:ext cx="2011680" cy="731520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50592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AEBED6"/>
                </a:solidFill>
                <a:latin typeface="Aptos"/>
              </a:defRPr>
            </a:pPr>
            <a:r>
              <a:t>BLOOD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2F6FF"/>
                </a:solidFill>
                <a:latin typeface="Aptos"/>
              </a:defRPr>
            </a:pPr>
            <a:r>
              <a:t>O−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2331720"/>
            <a:ext cx="2011680" cy="731520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450592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AEBED6"/>
                </a:solidFill>
                <a:latin typeface="Aptos"/>
              </a:defRPr>
            </a:pPr>
            <a:r>
              <a:t>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6974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2F6FF"/>
                </a:solidFill>
                <a:latin typeface="Aptos"/>
              </a:defRPr>
            </a:pPr>
            <a:r>
              <a:t>Whole Blood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331720"/>
            <a:ext cx="2011680" cy="731520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450592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AEBED6"/>
                </a:solidFill>
                <a:latin typeface="Aptos"/>
              </a:defRPr>
            </a:pPr>
            <a:r>
              <a:t>UNITS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6974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2F6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331720"/>
            <a:ext cx="2011680" cy="731520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450592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AEBED6"/>
                </a:solidFill>
                <a:latin typeface="Aptos"/>
              </a:defRPr>
            </a:pPr>
            <a:r>
              <a:t>AREA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6974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2F6FF"/>
                </a:solidFill>
                <a:latin typeface="Aptos"/>
              </a:defRPr>
            </a:pPr>
            <a:r>
              <a:t>Nearby 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4290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4D63"/>
                </a:solidFill>
                <a:latin typeface="Aptos"/>
              </a:defRPr>
            </a:pPr>
            <a:r>
              <a:t>POTENTIAL MATCHES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794760"/>
            <a:ext cx="10012680" cy="621792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7280" y="3904488"/>
            <a:ext cx="384048" cy="384048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3904488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AEBED6"/>
                </a:solidFill>
                <a:latin typeface="Aptos"/>
              </a:defRPr>
            </a:pPr>
            <a:r>
              <a:t>DNR-104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390448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2F6FF"/>
                </a:solidFill>
                <a:latin typeface="Aptos"/>
              </a:defRPr>
            </a:pPr>
            <a:r>
              <a:t>Candidate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3904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FE1A0"/>
                </a:solidFill>
                <a:latin typeface="Aptos"/>
              </a:defRPr>
            </a:pPr>
            <a:r>
              <a:t>Availability: Confirm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904488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BED6"/>
                </a:solidFill>
                <a:latin typeface="Aptos"/>
              </a:defRPr>
            </a:pPr>
            <a:r>
              <a:t>Area: Zone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572000"/>
            <a:ext cx="10012680" cy="621792"/>
          </a:xfrm>
          <a:prstGeom prst="round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7280" y="4681728"/>
            <a:ext cx="384048" cy="384048"/>
          </a:xfrm>
          <a:prstGeom prst="ellipse">
            <a:avLst/>
          </a:prstGeom>
          <a:solidFill>
            <a:srgbClr val="A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4681728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AEBED6"/>
                </a:solidFill>
                <a:latin typeface="Aptos"/>
              </a:defRPr>
            </a:pPr>
            <a:r>
              <a:t>DNR-127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468172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2F6FF"/>
                </a:solidFill>
                <a:latin typeface="Aptos"/>
              </a:defRPr>
            </a:pPr>
            <a:r>
              <a:t>Candidate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68172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5FE1A0"/>
                </a:solidFill>
                <a:latin typeface="Aptos"/>
              </a:defRPr>
            </a:pPr>
            <a:r>
              <a:t>Availability: Confirm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681728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BED6"/>
                </a:solidFill>
                <a:latin typeface="Aptos"/>
              </a:defRPr>
            </a:pPr>
            <a:r>
              <a:t>Area: Zone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715000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FC159"/>
                </a:solidFill>
                <a:latin typeface="Aptos"/>
              </a:defRPr>
            </a:pPr>
            <a:r>
              <a:t>Demo records only. Final donor eligibility and compatibility must be verified by qualified staff.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91440"/>
            <a:ext cx="164592" cy="164592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56848" y="91440"/>
            <a:ext cx="164592" cy="164592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0DBDA"/>
                </a:solidFill>
                <a:latin typeface="Aptos"/>
              </a:defRPr>
            </a:pPr>
            <a:r>
              <a:t>PROJECT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Advantages &amp; Expected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51560" cy="50292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AEBED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BED6"/>
                </a:solidFill>
                <a:latin typeface="Aptos"/>
              </a:defRPr>
            </a:pPr>
            <a:r>
              <a:t>BLOOD BANK INVENTORY &amp; DONOR MATCHER  •  JAVA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429000" cy="16459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3429000" cy="64008"/>
          </a:xfrm>
          <a:prstGeom prst="rect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30DBDA"/>
                </a:solidFill>
                <a:latin typeface="Aptos"/>
              </a:defRPr>
            </a:pPr>
            <a:r>
              <a:t>FASTER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0487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2F6FF"/>
                </a:solidFill>
                <a:latin typeface="Aptos"/>
              </a:defRPr>
            </a:pPr>
            <a:r>
              <a:t>Search stock and donor records in one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91640"/>
            <a:ext cx="3429000" cy="16459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691640"/>
            <a:ext cx="3429000" cy="64008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9659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4D63"/>
                </a:solidFill>
                <a:latin typeface="Aptos"/>
              </a:defRPr>
            </a:pPr>
            <a:r>
              <a:t>FEWER ENTRY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0487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2F6FF"/>
                </a:solidFill>
                <a:latin typeface="Aptos"/>
              </a:defRPr>
            </a:pPr>
            <a:r>
              <a:t>Validation rules check required fields and quantities.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691640"/>
            <a:ext cx="3429000" cy="16459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1691640"/>
            <a:ext cx="3429000" cy="64008"/>
          </a:xfrm>
          <a:prstGeom prst="rect">
            <a:avLst/>
          </a:prstGeom>
          <a:solidFill>
            <a:srgbClr val="FFC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19659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C159"/>
                </a:solidFill>
                <a:latin typeface="Aptos"/>
              </a:defRPr>
            </a:pPr>
            <a:r>
              <a:t>CLEAR 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240487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2F6FF"/>
                </a:solidFill>
                <a:latin typeface="Aptos"/>
              </a:defRPr>
            </a:pPr>
            <a:r>
              <a:t>Low-stock conditions are easier to identify.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49039"/>
            <a:ext cx="3429000" cy="16459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49039"/>
            <a:ext cx="3429000" cy="64008"/>
          </a:xfrm>
          <a:prstGeom prst="rect">
            <a:avLst/>
          </a:prstGeom>
          <a:solidFill>
            <a:srgbClr val="A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02335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A67EFF"/>
                </a:solidFill>
                <a:latin typeface="Aptos"/>
              </a:defRPr>
            </a:pPr>
            <a:r>
              <a:t>MODULAR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46227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2F6FF"/>
                </a:solidFill>
                <a:latin typeface="Aptos"/>
              </a:defRPr>
            </a:pPr>
            <a:r>
              <a:t>Classes and methods keep code maintainable.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49039"/>
            <a:ext cx="3429000" cy="16459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749039"/>
            <a:ext cx="3429000" cy="64008"/>
          </a:xfrm>
          <a:prstGeom prst="rect">
            <a:avLst/>
          </a:prstGeom>
          <a:solidFill>
            <a:srgbClr val="5FE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02335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5FE1A0"/>
                </a:solidFill>
                <a:latin typeface="Aptos"/>
              </a:defRPr>
            </a:pPr>
            <a:r>
              <a:t>USEFUL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46227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2F6FF"/>
                </a:solidFill>
                <a:latin typeface="Aptos"/>
              </a:defRPr>
            </a:pPr>
            <a:r>
              <a:t>Collections and streams summarise records.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59" y="3749039"/>
            <a:ext cx="3429000" cy="164592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59" y="3749039"/>
            <a:ext cx="3429000" cy="64008"/>
          </a:xfrm>
          <a:prstGeom prst="rect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59" y="402335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30DBDA"/>
                </a:solidFill>
                <a:latin typeface="Aptos"/>
              </a:defRPr>
            </a:pPr>
            <a:r>
              <a:t>PERSISTENT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59" y="446227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2F6FF"/>
                </a:solidFill>
                <a:latin typeface="Aptos"/>
              </a:defRPr>
            </a:pPr>
            <a:r>
              <a:t>File I/O can preserve records between runs.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91440"/>
            <a:ext cx="164592" cy="164592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56848" y="91440"/>
            <a:ext cx="164592" cy="164592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0DBDA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2F6FF"/>
                </a:solidFill>
                <a:latin typeface="Aptos"/>
              </a:defRPr>
            </a:pPr>
            <a: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51560" cy="50292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AEBED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BED6"/>
                </a:solidFill>
                <a:latin typeface="Aptos"/>
              </a:defRPr>
            </a:pPr>
            <a:r>
              <a:t>BLOOD BANK INVENTORY &amp; DONOR MATCHER  •  JAVA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303520" cy="429768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64008" cy="4297680"/>
          </a:xfrm>
          <a:prstGeom prst="rect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7452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0DBD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50008"/>
            <a:ext cx="489204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The project applies all six Java modules to a practical scenario.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Control flow and algorithms support stock checks and donor search.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OOP, collections and file handling structure the application.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The prototype demonstrates a clear path from problem to program.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303520" cy="4297680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91640"/>
            <a:ext cx="64008" cy="4297680"/>
          </a:xfrm>
          <a:prstGeom prst="rect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2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4D63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0008"/>
            <a:ext cx="489204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Database integration with secure access controls.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Role-based login for authorised blood-bank staff.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Verified location-based donor notifications.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Expiry-date alerts, audit logs and backup facilities.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2F6FF"/>
                </a:solidFill>
                <a:latin typeface="Aptos"/>
              </a:defRPr>
            </a:pPr>
            <a:r>
              <a:t>•  Testing with approved, anonymised sample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21040" y="1005840"/>
            <a:ext cx="2286000" cy="2286000"/>
          </a:xfrm>
          <a:prstGeom prst="ellipse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1645920"/>
            <a:ext cx="1051560" cy="1051560"/>
          </a:xfrm>
          <a:prstGeom prst="ellipse">
            <a:avLst/>
          </a:prstGeom>
          <a:solidFill>
            <a:srgbClr val="FF4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2286000"/>
            <a:ext cx="594360" cy="594360"/>
          </a:xfrm>
          <a:prstGeom prst="ellipse">
            <a:avLst/>
          </a:prstGeom>
          <a:solidFill>
            <a:srgbClr val="3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2F6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6400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30DBDA"/>
                </a:solidFill>
                <a:latin typeface="Aptos"/>
              </a:defRPr>
            </a:pPr>
            <a:r>
              <a:t>BLOOD BANK INVENTORY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30DBDA"/>
                </a:solidFill>
                <a:latin typeface="Aptos"/>
              </a:defRPr>
            </a:pPr>
            <a:r>
              <a:t>&amp; DONOR MATCHER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AEBED6"/>
                </a:solidFill>
                <a:latin typeface="Aptos"/>
              </a:defRPr>
            </a:pPr>
            <a:r>
              <a:t>Smart records. Faster search. Better coordination.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92040"/>
            <a:ext cx="4206240" cy="713232"/>
          </a:xfrm>
          <a:prstGeom prst="roundRect">
            <a:avLst/>
          </a:prstGeom>
          <a:solidFill>
            <a:srgbClr val="13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102352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2F6FF"/>
                </a:solidFill>
                <a:latin typeface="Aptos"/>
              </a:defRPr>
            </a:pPr>
            <a:r>
              <a:t>ADVAITH  •  2620030295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1792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F4D63"/>
                </a:solidFill>
                <a:latin typeface="Aptos"/>
              </a:defRPr>
            </a:pPr>
            <a:r>
              <a:t>JAVA PROJECT  |  MODULES 1–6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