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vaith.chidura@outlook.com" initials="a" lastIdx="2" clrIdx="0">
    <p:extLst>
      <p:ext uri="{19B8F6BF-5375-455C-9EA6-DF929625EA0E}">
        <p15:presenceInfo xmlns:p15="http://schemas.microsoft.com/office/powerpoint/2012/main" userId="316377e987a4fc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vaith.chidura@outlook.com" userId="316377e987a4fcd8" providerId="LiveId" clId="{FCC1F5F3-18DA-43F3-87CF-766C4F55A9D3}"/>
    <pc:docChg chg="custSel modSld">
      <pc:chgData name="advaith.chidura@outlook.com" userId="316377e987a4fcd8" providerId="LiveId" clId="{FCC1F5F3-18DA-43F3-87CF-766C4F55A9D3}" dt="2026-09-19T10:18:39.680" v="42" actId="1076"/>
      <pc:docMkLst>
        <pc:docMk/>
      </pc:docMkLst>
      <pc:sldChg chg="addSp delSp modSp mod">
        <pc:chgData name="advaith.chidura@outlook.com" userId="316377e987a4fcd8" providerId="LiveId" clId="{FCC1F5F3-18DA-43F3-87CF-766C4F55A9D3}" dt="2026-09-19T10:18:39.680" v="42" actId="1076"/>
        <pc:sldMkLst>
          <pc:docMk/>
          <pc:sldMk cId="0" sldId="256"/>
        </pc:sldMkLst>
        <pc:spChg chg="mod">
          <ac:chgData name="advaith.chidura@outlook.com" userId="316377e987a4fcd8" providerId="LiveId" clId="{FCC1F5F3-18DA-43F3-87CF-766C4F55A9D3}" dt="2026-09-19T10:18:39.680" v="42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advaith.chidura@outlook.com" userId="316377e987a4fcd8" providerId="LiveId" clId="{FCC1F5F3-18DA-43F3-87CF-766C4F55A9D3}" dt="2026-09-19T10:18:29.381" v="38" actId="478"/>
          <ac:spMkLst>
            <pc:docMk/>
            <pc:sldMk cId="0" sldId="256"/>
            <ac:spMk id="37" creationId="{00000000-0000-0000-0000-000000000000}"/>
          </ac:spMkLst>
        </pc:spChg>
        <pc:spChg chg="add mod">
          <ac:chgData name="advaith.chidura@outlook.com" userId="316377e987a4fcd8" providerId="LiveId" clId="{FCC1F5F3-18DA-43F3-87CF-766C4F55A9D3}" dt="2026-09-19T10:18:36.762" v="39" actId="1076"/>
          <ac:spMkLst>
            <pc:docMk/>
            <pc:sldMk cId="0" sldId="256"/>
            <ac:spMk id="39" creationId="{D0643FF4-C538-2007-EA99-E17B367D4F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365760"/>
            <a:ext cx="3840480" cy="3840480"/>
          </a:xfrm>
          <a:prstGeom prst="ellipse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4389120"/>
            <a:ext cx="2468880" cy="2468880"/>
          </a:xfrm>
          <a:prstGeom prst="ellipse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4937760"/>
            <a:ext cx="1554480" cy="1554480"/>
          </a:xfrm>
          <a:prstGeom prst="ellipse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ardrop 5"/>
          <p:cNvSpPr/>
          <p:nvPr/>
        </p:nvSpPr>
        <p:spPr>
          <a:xfrm>
            <a:off x="914400" y="914400"/>
            <a:ext cx="1143000" cy="1554480"/>
          </a:xfrm>
          <a:prstGeom prst="teardrop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48840" y="1051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DAE1"/>
                </a:solidFill>
                <a:latin typeface="Aptos"/>
              </a:defRPr>
            </a:pPr>
            <a:r>
              <a:t>HEALTHCARE • INVENTORY • SMART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5087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F8FC"/>
                </a:solidFill>
                <a:latin typeface="Aptos Display"/>
              </a:defRPr>
            </a:pPr>
            <a:r>
              <a:t>Blood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2860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5A91"/>
                </a:solidFill>
                <a:latin typeface="Aptos Display"/>
              </a:defRPr>
            </a:pPr>
            <a:r>
              <a:t>Inventory &amp; Donor Matcher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324612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BADC5"/>
                </a:solidFill>
                <a:latin typeface="Aptos"/>
              </a:defRPr>
            </a:pPr>
            <a:r>
              <a:t>A modern software concept for managing blood stock, donor records and compatible donor identification.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337560" cy="406908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LIVE BLOOD INVENTORY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2148840"/>
            <a:ext cx="411480" cy="411480"/>
          </a:xfrm>
          <a:prstGeom prst="ellipse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222199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1671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A+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203704"/>
            <a:ext cx="1234440" cy="201168"/>
          </a:xfrm>
          <a:prstGeom prst="roundRect">
            <a:avLst/>
          </a:prstGeom>
          <a:solidFill>
            <a:srgbClr val="2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320" y="2203704"/>
            <a:ext cx="822960" cy="201168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16768" y="21396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F8FC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2862072"/>
            <a:ext cx="411480" cy="411480"/>
          </a:xfrm>
          <a:prstGeom prst="ellipse">
            <a:avLst/>
          </a:prstGeom>
          <a:solidFill>
            <a:srgbClr val="F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29352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8803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B+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2916936"/>
            <a:ext cx="1234440" cy="201168"/>
          </a:xfrm>
          <a:prstGeom prst="roundRect">
            <a:avLst/>
          </a:prstGeom>
          <a:solidFill>
            <a:srgbClr val="2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18320" y="2916936"/>
            <a:ext cx="749808" cy="201168"/>
          </a:xfrm>
          <a:prstGeom prst="roundRect">
            <a:avLst/>
          </a:prstGeom>
          <a:solidFill>
            <a:srgbClr val="F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16768" y="28529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F8F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5" name="Oval 24"/>
          <p:cNvSpPr/>
          <p:nvPr/>
        </p:nvSpPr>
        <p:spPr>
          <a:xfrm>
            <a:off x="8138160" y="3575304"/>
            <a:ext cx="411480" cy="411480"/>
          </a:xfrm>
          <a:prstGeom prst="ellipse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364845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593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O+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3630168"/>
            <a:ext cx="1234440" cy="201168"/>
          </a:xfrm>
          <a:prstGeom prst="roundRect">
            <a:avLst/>
          </a:prstGeom>
          <a:solidFill>
            <a:srgbClr val="2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18320" y="3630168"/>
            <a:ext cx="676656" cy="201168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16768" y="35661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F8FC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31" name="Oval 30"/>
          <p:cNvSpPr/>
          <p:nvPr/>
        </p:nvSpPr>
        <p:spPr>
          <a:xfrm>
            <a:off x="8138160" y="4288536"/>
            <a:ext cx="411480" cy="411480"/>
          </a:xfrm>
          <a:prstGeom prst="ellipse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4361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3068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AB+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4343399"/>
            <a:ext cx="1234440" cy="201168"/>
          </a:xfrm>
          <a:prstGeom prst="roundRect">
            <a:avLst/>
          </a:prstGeom>
          <a:solidFill>
            <a:srgbClr val="2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418320" y="4343399"/>
            <a:ext cx="603504" cy="201168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16768" y="42793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F8F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E89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643FF4-C538-2007-EA99-E17B367D4F78}"/>
              </a:ext>
            </a:extLst>
          </p:cNvPr>
          <p:cNvSpPr txBox="1"/>
          <p:nvPr/>
        </p:nvSpPr>
        <p:spPr>
          <a:xfrm>
            <a:off x="689549" y="5483274"/>
            <a:ext cx="2300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ADVAITH CHIDURA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2620030295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DC5"/>
                </a:solidFill>
                <a:latin typeface="Aptos"/>
              </a:defRPr>
            </a:pPr>
            <a:r>
              <a:t>A simple real-world system that connects inventory management with donor compatibility.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7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005840" cy="54864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64208" y="1874519"/>
            <a:ext cx="594360" cy="54864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50008" y="1874519"/>
            <a:ext cx="347472" cy="54864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2240280"/>
            <a:ext cx="6629400" cy="361188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74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5989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8FC"/>
                </a:solidFill>
                <a:latin typeface="Aptos"/>
              </a:defRPr>
            </a:pPr>
            <a:r>
              <a:t>The Blood Bank Inventory &amp; Donor Matcher is a software application designed to manage blood stock and identify suitable blood donors based on blood-group compatibility.</a:t>
            </a:r>
            <a:br/>
            <a:br/>
            <a:r>
              <a:t>Traditional blood-bank management can involve maintaining donor information and blood-stock details separately, making it difficult to quickly identify available blood or suitable donors during emergencies.</a:t>
            </a:r>
            <a:br/>
            <a:br/>
            <a:r>
              <a:t>The system can add donors, register blood units, view inventory, search donors, check blood availability, and match compatible donors.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240280"/>
            <a:ext cx="4023360" cy="3611880"/>
          </a:xfrm>
          <a:prstGeom prst="roundRect">
            <a:avLst/>
          </a:prstGeom>
          <a:solidFill>
            <a:srgbClr val="16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DAE1"/>
                </a:solidFill>
                <a:latin typeface="Aptos"/>
              </a:defRPr>
            </a:pPr>
            <a:r>
              <a:t>SYSTEM FLOW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0" y="3063240"/>
            <a:ext cx="347472" cy="347472"/>
          </a:xfrm>
          <a:prstGeom prst="ellipse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30540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DONOR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74736" y="3410712"/>
            <a:ext cx="0" cy="246888"/>
          </a:xfrm>
          <a:prstGeom prst="line">
            <a:avLst/>
          </a:prstGeom>
          <a:ln w="25400">
            <a:solidFill>
              <a:srgbClr val="FF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001000" y="3657600"/>
            <a:ext cx="347472" cy="347472"/>
          </a:xfrm>
          <a:prstGeom prst="ellipse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36484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74736" y="4005072"/>
            <a:ext cx="0" cy="246888"/>
          </a:xfrm>
          <a:prstGeom prst="line">
            <a:avLst/>
          </a:prstGeom>
          <a:ln w="25400">
            <a:solidFill>
              <a:srgbClr val="9D6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01000" y="4251960"/>
            <a:ext cx="347472" cy="347472"/>
          </a:xfrm>
          <a:prstGeom prst="ellipse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42428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MATCH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74736" y="4599432"/>
            <a:ext cx="0" cy="246888"/>
          </a:xfrm>
          <a:prstGeom prst="line">
            <a:avLst/>
          </a:prstGeom>
          <a:ln w="25400">
            <a:solidFill>
              <a:srgbClr val="2A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001000" y="4846320"/>
            <a:ext cx="347472" cy="347472"/>
          </a:xfrm>
          <a:prstGeom prst="ellipse">
            <a:avLst/>
          </a:prstGeom>
          <a:solidFill>
            <a:srgbClr val="32E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48371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8FC"/>
                </a:solidFill>
                <a:latin typeface="Aptos"/>
              </a:defRPr>
            </a:pPr>
            <a:r>
              <a:t>BLOOD UNIT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3063240"/>
            <a:ext cx="594360" cy="861822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33761" y="3271266"/>
            <a:ext cx="392277" cy="463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63479" y="3354476"/>
            <a:ext cx="332841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5" b="1">
                <a:solidFill>
                  <a:srgbClr val="F5F8FC"/>
                </a:solidFill>
                <a:latin typeface="Aptos"/>
              </a:defRPr>
            </a:pPr>
            <a:r>
              <a:t>BLOOD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29900" y="2855214"/>
            <a:ext cx="0" cy="208026"/>
          </a:xfrm>
          <a:prstGeom prst="line">
            <a:avLst/>
          </a:prstGeom>
          <a:ln w="38100">
            <a:solidFill>
              <a:srgbClr val="FF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582351" y="2813608"/>
            <a:ext cx="95097" cy="83210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32720" y="4206240"/>
            <a:ext cx="594360" cy="861822"/>
          </a:xfrm>
          <a:prstGeom prst="roundRect">
            <a:avLst/>
          </a:prstGeom>
          <a:solidFill>
            <a:srgbClr val="F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33761" y="4414266"/>
            <a:ext cx="392277" cy="463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63479" y="4497476"/>
            <a:ext cx="332841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5" b="1">
                <a:solidFill>
                  <a:srgbClr val="F5F8FC"/>
                </a:solidFill>
                <a:latin typeface="Aptos"/>
              </a:defRPr>
            </a:pPr>
            <a:r>
              <a:t>BLOOD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629900" y="3998213"/>
            <a:ext cx="0" cy="208027"/>
          </a:xfrm>
          <a:prstGeom prst="line">
            <a:avLst/>
          </a:prstGeom>
          <a:ln w="38100">
            <a:solidFill>
              <a:srgbClr val="FF5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582351" y="3956608"/>
            <a:ext cx="95097" cy="83210"/>
          </a:xfrm>
          <a:prstGeom prst="roundRect">
            <a:avLst/>
          </a:prstGeom>
          <a:solidFill>
            <a:srgbClr val="F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E89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02 /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DC5"/>
                </a:solidFill>
                <a:latin typeface="Aptos"/>
              </a:defRPr>
            </a:pPr>
            <a:r>
              <a:t>Key benefits of a structured blood-bank inventory and donor-matching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7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005840" cy="54864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64208" y="1874519"/>
            <a:ext cx="594360" cy="54864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50008" y="1874519"/>
            <a:ext cx="347472" cy="54864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228600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514600"/>
            <a:ext cx="475488" cy="475488"/>
          </a:xfrm>
          <a:prstGeom prst="ellipse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61518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Easy donor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28600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43400" y="2514600"/>
            <a:ext cx="475488" cy="475488"/>
          </a:xfrm>
          <a:prstGeom prst="ellipse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2272" y="261518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4871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Faster donor searching.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28600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09559" y="2514600"/>
            <a:ext cx="475488" cy="475488"/>
          </a:xfrm>
          <a:prstGeom prst="ellipse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8431" y="261518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871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Easy blood-stock monitoring.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52044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3749039"/>
            <a:ext cx="475488" cy="475488"/>
          </a:xfrm>
          <a:prstGeom prst="ellipse">
            <a:avLst/>
          </a:prstGeom>
          <a:solidFill>
            <a:srgbClr val="32E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84962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72160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Reduces manual record keeping.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52044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343400" y="3749039"/>
            <a:ext cx="475488" cy="475488"/>
          </a:xfrm>
          <a:prstGeom prst="ellipse">
            <a:avLst/>
          </a:prstGeom>
          <a:solidFill>
            <a:srgbClr val="F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2272" y="384962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72160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Helps identify compatible blood groups.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352044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09559" y="3749039"/>
            <a:ext cx="475488" cy="475488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28431" y="384962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2160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Simple user interface.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75488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7240" y="4983480"/>
            <a:ext cx="475488" cy="475488"/>
          </a:xfrm>
          <a:prstGeom prst="ellipse">
            <a:avLst/>
          </a:prstGeom>
          <a:solidFill>
            <a:srgbClr val="41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508406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9560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Reduces duplicate searching.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475488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343400" y="4983480"/>
            <a:ext cx="475488" cy="475488"/>
          </a:xfrm>
          <a:prstGeom prst="ellipse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62272" y="508406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49560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Provides organized information.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79" y="4754880"/>
            <a:ext cx="3200400" cy="987552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09559" y="4983480"/>
            <a:ext cx="475488" cy="475488"/>
          </a:xfrm>
          <a:prstGeom prst="ellipse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28431" y="5084064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D1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9560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F8FC"/>
                </a:solidFill>
                <a:latin typeface="Aptos"/>
              </a:defRPr>
            </a:pPr>
            <a:r>
              <a:t>Easy to update inventory.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72600" y="5806440"/>
            <a:ext cx="530352" cy="320040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72600" y="587044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D18"/>
                </a:solidFill>
                <a:latin typeface="Aptos"/>
              </a:defRPr>
            </a:pPr>
            <a:r>
              <a:t>A+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94392" y="5806440"/>
            <a:ext cx="530352" cy="320040"/>
          </a:xfrm>
          <a:prstGeom prst="roundRect">
            <a:avLst/>
          </a:prstGeom>
          <a:solidFill>
            <a:srgbClr val="F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994392" y="587044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D18"/>
                </a:solidFill>
                <a:latin typeface="Aptos"/>
              </a:defRPr>
            </a:pPr>
            <a:r>
              <a:t>B+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16184" y="5806440"/>
            <a:ext cx="530352" cy="320040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16184" y="587044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D18"/>
                </a:solidFill>
                <a:latin typeface="Aptos"/>
              </a:defRPr>
            </a:pPr>
            <a:r>
              <a:t>O+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237976" y="5806440"/>
            <a:ext cx="530352" cy="320040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37976" y="587044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D18"/>
                </a:solidFill>
                <a:latin typeface="Aptos"/>
              </a:defRPr>
            </a:pPr>
            <a:r>
              <a:t>AB+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E89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03 /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Output Screenshot —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7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33374"/>
            <a:ext cx="1005840" cy="54864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64208" y="1123747"/>
            <a:ext cx="594360" cy="54864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50008" y="1133376"/>
            <a:ext cx="347472" cy="54864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E89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663FE05-91C3-2E2F-3414-2BE29E65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1905"/>
            <a:ext cx="2195203" cy="159503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C844358-4ACC-5F83-E70F-F76A52C86528}"/>
              </a:ext>
            </a:extLst>
          </p:cNvPr>
          <p:cNvSpPr txBox="1"/>
          <p:nvPr/>
        </p:nvSpPr>
        <p:spPr>
          <a:xfrm>
            <a:off x="594360" y="128607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Case1: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AD9E3DC-520F-1E5F-1EE4-7C8BB803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246" y="1624985"/>
            <a:ext cx="1875674" cy="164195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FD14EA0-2CC1-7219-C570-479C2C8359A3}"/>
              </a:ext>
            </a:extLst>
          </p:cNvPr>
          <p:cNvSpPr txBox="1"/>
          <p:nvPr/>
        </p:nvSpPr>
        <p:spPr>
          <a:xfrm>
            <a:off x="3186546" y="123915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Case2: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BC84484-78EC-C50D-6DB5-085E6BDF1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603" y="1608483"/>
            <a:ext cx="1875674" cy="165845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5503C13-CADB-7E92-2790-3AEEC42ECC39}"/>
              </a:ext>
            </a:extLst>
          </p:cNvPr>
          <p:cNvSpPr txBox="1"/>
          <p:nvPr/>
        </p:nvSpPr>
        <p:spPr>
          <a:xfrm>
            <a:off x="5321532" y="123915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Case3: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272566F-8E40-9087-3EE7-4F189F0C5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960" y="1591981"/>
            <a:ext cx="2712727" cy="165845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C5A0A2F-260C-2082-DD18-A624175967AB}"/>
              </a:ext>
            </a:extLst>
          </p:cNvPr>
          <p:cNvSpPr txBox="1"/>
          <p:nvPr/>
        </p:nvSpPr>
        <p:spPr>
          <a:xfrm>
            <a:off x="7769960" y="119106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Case4: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BAAE2BA-B767-1C95-31BF-4548847881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3954" b="-1064"/>
          <a:stretch>
            <a:fillRect/>
          </a:stretch>
        </p:blipFill>
        <p:spPr>
          <a:xfrm>
            <a:off x="594360" y="3976892"/>
            <a:ext cx="3645568" cy="6858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1581CBCC-1784-AC8F-402E-08D1B00C0961}"/>
              </a:ext>
            </a:extLst>
          </p:cNvPr>
          <p:cNvSpPr txBox="1"/>
          <p:nvPr/>
        </p:nvSpPr>
        <p:spPr>
          <a:xfrm>
            <a:off x="531092" y="36439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Case5: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1DAD3BB-A125-495C-B603-A528296287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093" y="5201970"/>
            <a:ext cx="3645568" cy="97155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0BE680B-FDB2-3184-1110-3AF45AC38B98}"/>
              </a:ext>
            </a:extLst>
          </p:cNvPr>
          <p:cNvSpPr txBox="1"/>
          <p:nvPr/>
        </p:nvSpPr>
        <p:spPr>
          <a:xfrm>
            <a:off x="505924" y="483221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Case6: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8F63BF6-F355-72FA-9595-386FD41690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772" y="4013306"/>
            <a:ext cx="2296152" cy="250873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8AE40D1-BB9D-B348-A7A9-18352C7FF51F}"/>
              </a:ext>
            </a:extLst>
          </p:cNvPr>
          <p:cNvSpPr txBox="1"/>
          <p:nvPr/>
        </p:nvSpPr>
        <p:spPr>
          <a:xfrm>
            <a:off x="4570203" y="36439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Case7:</a:t>
            </a:r>
          </a:p>
        </p:txBody>
      </p:sp>
      <p:sp>
        <p:nvSpPr>
          <p:cNvPr id="68" name="AutoShape 2">
            <a:extLst>
              <a:ext uri="{FF2B5EF4-FFF2-40B4-BE49-F238E27FC236}">
                <a16:creationId xmlns:a16="http://schemas.microsoft.com/office/drawing/2014/main" id="{7615C7AF-66FB-F3BD-080A-7638553E86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A5D5775-2659-AEA5-6D31-F660AAC5F2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8105" y="4091192"/>
            <a:ext cx="3571875" cy="571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BAFC5F8A-397F-3F29-EB56-F149C8423CDB}"/>
              </a:ext>
            </a:extLst>
          </p:cNvPr>
          <p:cNvSpPr txBox="1"/>
          <p:nvPr/>
        </p:nvSpPr>
        <p:spPr>
          <a:xfrm>
            <a:off x="7605516" y="367200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Case8: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04 /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Output Screenshot — Donor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DC5"/>
                </a:solidFill>
                <a:latin typeface="Aptos"/>
              </a:defRPr>
            </a:pPr>
            <a:r>
              <a:t>A visual mockup for the compatible-donor search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74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005840" cy="54864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64208" y="1874519"/>
            <a:ext cx="594360" cy="54864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50008" y="1874519"/>
            <a:ext cx="347472" cy="54864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10972800" cy="3977639"/>
          </a:xfrm>
          <a:prstGeom prst="roundRect">
            <a:avLst/>
          </a:prstGeom>
          <a:solidFill>
            <a:srgbClr val="0D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Find Compatible Donors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63240"/>
            <a:ext cx="3749039" cy="50292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DC5"/>
                </a:solidFill>
                <a:latin typeface="Aptos"/>
              </a:defRPr>
            </a:pPr>
            <a:r>
              <a:t>Required Blood Group: O+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3063240"/>
            <a:ext cx="1051560" cy="502920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32004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MATCH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43400"/>
            <a:ext cx="5852160" cy="41148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78992" y="4416552"/>
            <a:ext cx="256032" cy="256032"/>
          </a:xfrm>
          <a:prstGeom prst="ellipse">
            <a:avLst/>
          </a:prstGeom>
          <a:solidFill>
            <a:srgbClr val="32E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4416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Donor 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4165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E09C"/>
                </a:solidFill>
                <a:latin typeface="Aptos"/>
              </a:defRPr>
            </a:pPr>
            <a:r>
              <a:t>O+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416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DC5"/>
                </a:solidFill>
                <a:latin typeface="Aptos"/>
              </a:defRPr>
            </a:pPr>
            <a:r>
              <a:t>2.4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4165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2E09C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73752"/>
            <a:ext cx="5852160" cy="41148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78992" y="4946904"/>
            <a:ext cx="256032" cy="256032"/>
          </a:xfrm>
          <a:prstGeom prst="ellipse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08760" y="49469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Donor 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94690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O-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9469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DC5"/>
                </a:solidFill>
                <a:latin typeface="Aptos"/>
              </a:defRPr>
            </a:pPr>
            <a:r>
              <a:t>4.1 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9469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2E09C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404104"/>
            <a:ext cx="5852160" cy="41148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78992" y="5477256"/>
            <a:ext cx="256032" cy="256032"/>
          </a:xfrm>
          <a:prstGeom prst="ellipse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08760" y="54772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Donor 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4772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D64FF"/>
                </a:solidFill>
                <a:latin typeface="Aptos"/>
              </a:defRPr>
            </a:pPr>
            <a:r>
              <a:t>O+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5477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DC5"/>
                </a:solidFill>
                <a:latin typeface="Aptos"/>
              </a:defRPr>
            </a:pPr>
            <a:r>
              <a:t>6.7 km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477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2E09C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35" name="Oval 34"/>
          <p:cNvSpPr/>
          <p:nvPr/>
        </p:nvSpPr>
        <p:spPr>
          <a:xfrm>
            <a:off x="7818120" y="2971800"/>
            <a:ext cx="1920240" cy="1920240"/>
          </a:xfrm>
          <a:prstGeom prst="ellipse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275320" y="3429000"/>
            <a:ext cx="1005840" cy="1005840"/>
          </a:xfrm>
          <a:prstGeom prst="ellipse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3703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O+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DAE1"/>
                </a:solidFill>
                <a:latin typeface="Aptos"/>
              </a:defRPr>
            </a:pPr>
            <a:r>
              <a:t>COMPATIBLE DONOR FOUND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E89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DAE1"/>
                </a:solidFill>
                <a:latin typeface="Aptos"/>
              </a:defRPr>
            </a:pPr>
            <a:r>
              <a:t>05 /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8FC"/>
                </a:solidFill>
                <a:latin typeface="Aptos Display"/>
              </a:defRPr>
            </a:pPr>
            <a: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DC5"/>
                </a:solidFill>
                <a:latin typeface="Aptos"/>
              </a:defRPr>
            </a:pPr>
            <a:r>
              <a:t>How the project can evolve into a broader digital blood-management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74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005840" cy="54864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64208" y="1874519"/>
            <a:ext cx="594360" cy="54864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50008" y="1874519"/>
            <a:ext cx="347472" cy="54864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2240280"/>
            <a:ext cx="5349240" cy="3611880"/>
          </a:xfrm>
          <a:prstGeom prst="round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7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09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8FC"/>
                </a:solidFill>
                <a:latin typeface="Aptos"/>
              </a:defRPr>
            </a:pPr>
            <a:r>
              <a:t>The Blood Bank Inventory &amp; Donor Matcher project provides a simple and efficient solution for managing blood-bank information and donor records.</a:t>
            </a:r>
            <a:br/>
            <a:br/>
            <a:r>
              <a:t>The system allows users to register donors, maintain blood-group inventory, check blood availability, issue blood units, and identify compatible donors based on blood-group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DAE1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0"/>
            <a:ext cx="5074920" cy="438912"/>
          </a:xfrm>
          <a:prstGeom prst="roundRect">
            <a:avLst/>
          </a:prstGeom>
          <a:solidFill>
            <a:srgbClr val="16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82296" cy="438912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84378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37560"/>
            <a:ext cx="5074920" cy="438912"/>
          </a:xfrm>
          <a:prstGeom prst="roundRect">
            <a:avLst/>
          </a:prstGeom>
          <a:solidFill>
            <a:srgbClr val="16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3337560"/>
            <a:ext cx="82296" cy="438912"/>
          </a:xfrm>
          <a:prstGeom prst="roundRect">
            <a:avLst/>
          </a:prstGeom>
          <a:solidFill>
            <a:srgbClr val="F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43814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Mobile 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931920"/>
            <a:ext cx="5074920" cy="438912"/>
          </a:xfrm>
          <a:prstGeom prst="roundRect">
            <a:avLst/>
          </a:prstGeom>
          <a:solidFill>
            <a:srgbClr val="16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60" y="3931920"/>
            <a:ext cx="82296" cy="438912"/>
          </a:xfrm>
          <a:prstGeom prst="roundRect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03250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Location-Based Matching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526280"/>
            <a:ext cx="5074920" cy="438912"/>
          </a:xfrm>
          <a:prstGeom prst="roundRect">
            <a:avLst/>
          </a:prstGeom>
          <a:solidFill>
            <a:srgbClr val="16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9360" y="4526280"/>
            <a:ext cx="82296" cy="438912"/>
          </a:xfrm>
          <a:prstGeom prst="roundRect">
            <a:avLst/>
          </a:prstGeom>
          <a:solidFill>
            <a:srgbClr val="9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62686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Emergency Blood Requests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120640"/>
            <a:ext cx="5074920" cy="438912"/>
          </a:xfrm>
          <a:prstGeom prst="roundRect">
            <a:avLst/>
          </a:prstGeom>
          <a:solidFill>
            <a:srgbClr val="16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5120640"/>
            <a:ext cx="82296" cy="438912"/>
          </a:xfrm>
          <a:prstGeom prst="roundRect">
            <a:avLst/>
          </a:prstGeom>
          <a:solidFill>
            <a:srgbClr val="32E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22122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Blood Expiry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7000" y="5303520"/>
            <a:ext cx="502920" cy="729234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372496" y="5479542"/>
            <a:ext cx="331927" cy="39227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97642" y="5549950"/>
            <a:ext cx="281635" cy="125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95" b="1">
                <a:solidFill>
                  <a:srgbClr val="F5F8FC"/>
                </a:solidFill>
                <a:latin typeface="Aptos"/>
              </a:defRPr>
            </a:pPr>
            <a:r>
              <a:t>BLOOD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538460" y="5127498"/>
            <a:ext cx="0" cy="176022"/>
          </a:xfrm>
          <a:prstGeom prst="line">
            <a:avLst/>
          </a:prstGeom>
          <a:ln w="38100">
            <a:solidFill>
              <a:srgbClr val="FF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98226" y="5092293"/>
            <a:ext cx="80467" cy="70408"/>
          </a:xfrm>
          <a:prstGeom prst="roundRect">
            <a:avLst/>
          </a:prstGeom>
          <a:solidFill>
            <a:srgbClr val="F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ardrop 33"/>
          <p:cNvSpPr/>
          <p:nvPr/>
        </p:nvSpPr>
        <p:spPr>
          <a:xfrm>
            <a:off x="9646920" y="5074920"/>
            <a:ext cx="457200" cy="640080"/>
          </a:xfrm>
          <a:prstGeom prst="teardrop">
            <a:avLst/>
          </a:prstGeom>
          <a:solidFill>
            <a:srgbClr val="2A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E89"/>
                </a:solidFill>
                <a:latin typeface="Aptos"/>
              </a:defRPr>
            </a:pPr>
            <a:r>
              <a:t>BLOOD BANK INVENTORY &amp; DONOR MATCHER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438</Words>
  <Application>Microsoft Office PowerPoint</Application>
  <PresentationFormat>Widescreen</PresentationFormat>
  <Paragraphs>109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advaith.chidura@outlook.com</cp:lastModifiedBy>
  <cp:revision>2</cp:revision>
  <dcterms:created xsi:type="dcterms:W3CDTF">2013-01-27T09:14:16Z</dcterms:created>
  <dcterms:modified xsi:type="dcterms:W3CDTF">2026-09-19T10:18:41Z</dcterms:modified>
  <cp:category/>
</cp:coreProperties>
</file>